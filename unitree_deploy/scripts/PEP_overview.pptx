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P" id="{f98b7b78-af30-551a-3d4c-adc6dd71ad9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model's output is treated as untrusted. The postino (robot_client.py) asks the Cyber Twin's PEP before the start pose, before each 16-step chunk, and before every single step. A chunk runs only on ALLOW: arm joints only, within the URDF limits, no faster than 3.0 rad/s. Identity, route and target are set by the postino, never taken from the model. If the twin does not answer, nothing moves. Every decision is logged. The operator can arm, disarm, E-stop, revoke the identity, or switch to monitor mode. Limit: the PEP guards the postino's path only, so on a real robot the DDS network must be isolated.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Every AI command is checked before the robot moves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DGS Cyber Twin PEP in the UnifoLM-WMA packing loop  ·  MuJoCo simulation, no physical robot</a:t>
            </a:r>
            <a:endParaRPr lang="en-US" sz="1400" dirty="0"/>
          </a:p>
        </p:txBody>
      </p:sp>
      <p:sp>
        <p:nvSpPr>
          <p:cNvPr id="4" name="Flow box AI model"/>
          <p:cNvSpPr/>
          <p:nvPr/>
        </p:nvSpPr>
        <p:spPr>
          <a:xfrm>
            <a:off x="548640" y="1691640"/>
            <a:ext cx="2212848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Flow text AI model"/>
          <p:cNvSpPr txBox="1"/>
          <p:nvPr/>
        </p:nvSpPr>
        <p:spPr>
          <a:xfrm>
            <a:off x="713232" y="1801368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 model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UnifoLM-WMA-0 / replay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16 actions per request</a:t>
            </a:r>
            <a:endParaRPr lang="en-US" sz="1800" dirty="0"/>
          </a:p>
        </p:txBody>
      </p:sp>
      <p:sp>
        <p:nvSpPr>
          <p:cNvPr id="6" name="Flow box Postino"/>
          <p:cNvSpPr/>
          <p:nvPr/>
        </p:nvSpPr>
        <p:spPr>
          <a:xfrm>
            <a:off x="3493008" y="1691640"/>
            <a:ext cx="2212848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Flow text Postino"/>
          <p:cNvSpPr txBox="1"/>
          <p:nvPr/>
        </p:nvSpPr>
        <p:spPr>
          <a:xfrm>
            <a:off x="3657600" y="1801368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Postino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robot_client.py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asks the PEP before acting</a:t>
            </a:r>
            <a:endParaRPr lang="en-US" sz="1800" dirty="0"/>
          </a:p>
        </p:txBody>
      </p:sp>
      <p:sp>
        <p:nvSpPr>
          <p:cNvPr id="8" name="Flow box PEP · Cyber Twin"/>
          <p:cNvSpPr/>
          <p:nvPr/>
        </p:nvSpPr>
        <p:spPr>
          <a:xfrm>
            <a:off x="6437376" y="1691640"/>
            <a:ext cx="2212848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 text PEP · Cyber Twin"/>
          <p:cNvSpPr txBox="1"/>
          <p:nvPr/>
        </p:nvSpPr>
        <p:spPr>
          <a:xfrm>
            <a:off x="6601968" y="1801368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PEP · Cyber Twin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validates · logs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operator override</a:t>
            </a:r>
            <a:endParaRPr lang="en-US" sz="1800" dirty="0"/>
          </a:p>
        </p:txBody>
      </p:sp>
      <p:sp>
        <p:nvSpPr>
          <p:cNvPr id="10" name="Flow box Robot"/>
          <p:cNvSpPr/>
          <p:nvPr/>
        </p:nvSpPr>
        <p:spPr>
          <a:xfrm>
            <a:off x="9381744" y="1691640"/>
            <a:ext cx="2212848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Flow text Robot"/>
          <p:cNvSpPr txBox="1"/>
          <p:nvPr/>
        </p:nvSpPr>
        <p:spPr>
          <a:xfrm>
            <a:off x="9546336" y="1801368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Robot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MuJoCo simulator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moves only on ALLOW</a:t>
            </a:r>
            <a:endParaRPr lang="en-US" sz="1800" dirty="0"/>
          </a:p>
        </p:txBody>
      </p:sp>
      <p:sp>
        <p:nvSpPr>
          <p:cNvPr id="12" name="Flow arrow 1"/>
          <p:cNvSpPr/>
          <p:nvPr/>
        </p:nvSpPr>
        <p:spPr>
          <a:xfrm>
            <a:off x="2816352" y="2217420"/>
            <a:ext cx="621792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3" name="Flow label 1"/>
          <p:cNvSpPr txBox="1"/>
          <p:nvPr/>
        </p:nvSpPr>
        <p:spPr>
          <a:xfrm>
            <a:off x="2816352" y="18516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actions</a:t>
            </a:r>
            <a:endParaRPr lang="en-US" sz="1100" dirty="0"/>
          </a:p>
        </p:txBody>
      </p:sp>
      <p:sp>
        <p:nvSpPr>
          <p:cNvPr id="14" name="Flow arrow 2"/>
          <p:cNvSpPr/>
          <p:nvPr/>
        </p:nvSpPr>
        <p:spPr>
          <a:xfrm>
            <a:off x="5760720" y="2217420"/>
            <a:ext cx="621792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5" name="Flow label 2"/>
          <p:cNvSpPr txBox="1"/>
          <p:nvPr/>
        </p:nvSpPr>
        <p:spPr>
          <a:xfrm>
            <a:off x="5760720" y="18516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check</a:t>
            </a:r>
            <a:endParaRPr lang="en-US" sz="1100" dirty="0"/>
          </a:p>
        </p:txBody>
      </p:sp>
      <p:sp>
        <p:nvSpPr>
          <p:cNvPr id="16" name="Flow arrow 3"/>
          <p:cNvSpPr/>
          <p:nvPr/>
        </p:nvSpPr>
        <p:spPr>
          <a:xfrm>
            <a:off x="8705088" y="2217420"/>
            <a:ext cx="6217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Flow label 3"/>
          <p:cNvSpPr txBox="1"/>
          <p:nvPr/>
        </p:nvSpPr>
        <p:spPr>
          <a:xfrm>
            <a:off x="8705088" y="18516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if ALLOW</a:t>
            </a:r>
            <a:endParaRPr lang="en-US" sz="1100" dirty="0"/>
          </a:p>
        </p:txBody>
      </p:sp>
      <p:sp>
        <p:nvSpPr>
          <p:cNvPr id="18" name="Checks header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Three checks in every cycle</a:t>
            </a:r>
            <a:endParaRPr lang="en-US" sz="2000" dirty="0"/>
          </a:p>
        </p:txBody>
      </p:sp>
      <p:sp>
        <p:nvSpPr>
          <p:cNvPr id="19" name="Check number 1"/>
          <p:cNvSpPr/>
          <p:nvPr/>
        </p:nvSpPr>
        <p:spPr>
          <a:xfrm>
            <a:off x="548640" y="36393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heck digit 1"/>
          <p:cNvSpPr txBox="1"/>
          <p:nvPr/>
        </p:nvSpPr>
        <p:spPr>
          <a:xfrm>
            <a:off x="54864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Check text 1"/>
          <p:cNvSpPr txBox="1"/>
          <p:nvPr/>
        </p:nvSpPr>
        <p:spPr>
          <a:xfrm>
            <a:off x="1143000" y="358444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Before the start pose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Holds until a person clicks Arma robot (disarmed → DENY G1D-107)</a:t>
            </a:r>
            <a:endParaRPr lang="en-US" sz="1600" dirty="0"/>
          </a:p>
        </p:txBody>
      </p:sp>
      <p:sp>
        <p:nvSpPr>
          <p:cNvPr id="22" name="Check number 2"/>
          <p:cNvSpPr/>
          <p:nvPr/>
        </p:nvSpPr>
        <p:spPr>
          <a:xfrm>
            <a:off x="548640" y="442569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Check digit 2"/>
          <p:cNvSpPr txBox="1"/>
          <p:nvPr/>
        </p:nvSpPr>
        <p:spPr>
          <a:xfrm>
            <a:off x="548640" y="4425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Check text 2"/>
          <p:cNvSpPr txBox="1"/>
          <p:nvPr/>
        </p:nvSpPr>
        <p:spPr>
          <a:xfrm>
            <a:off x="1143000" y="437083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Before each 16-step chunk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Arm joints only, within URDF limits, ≤ 3.0 rad/s. Otherwise DENY: drop it, ask the model again</a:t>
            </a:r>
            <a:endParaRPr lang="en-US" sz="1600" dirty="0"/>
          </a:p>
        </p:txBody>
      </p:sp>
      <p:sp>
        <p:nvSpPr>
          <p:cNvPr id="25" name="Check number 3"/>
          <p:cNvSpPr/>
          <p:nvPr/>
        </p:nvSpPr>
        <p:spPr>
          <a:xfrm>
            <a:off x="548640" y="5212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Check digit 3"/>
          <p:cNvSpPr txBox="1"/>
          <p:nvPr/>
        </p:nvSpPr>
        <p:spPr>
          <a:xfrm>
            <a:off x="548640" y="5212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Check text 3"/>
          <p:cNvSpPr txBox="1"/>
          <p:nvPr/>
        </p:nvSpPr>
        <p:spPr>
          <a:xfrm>
            <a:off x="1143000" y="515721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Before every step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Still armed? E-stop or disarm aborts the chunk mid-motion</a:t>
            </a:r>
            <a:endParaRPr lang="en-US" sz="1600" dirty="0"/>
          </a:p>
        </p:txBody>
      </p:sp>
      <p:sp>
        <p:nvSpPr>
          <p:cNvPr id="28" name="Rules header"/>
          <p:cNvSpPr txBox="1"/>
          <p:nvPr/>
        </p:nvSpPr>
        <p:spPr>
          <a:xfrm>
            <a:off x="6355080" y="31089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What the PEP stops</a:t>
            </a:r>
            <a:endParaRPr lang="en-US" sz="2000" dirty="0"/>
          </a:p>
        </p:txBody>
      </p:sp>
      <p:sp>
        <p:nvSpPr>
          <p:cNvPr id="29" name="Rule G1D-101"/>
          <p:cNvSpPr/>
          <p:nvPr/>
        </p:nvSpPr>
        <p:spPr>
          <a:xfrm>
            <a:off x="6355080" y="3639312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0" name="Rule text G1D-101"/>
          <p:cNvSpPr txBox="1"/>
          <p:nvPr/>
        </p:nvSpPr>
        <p:spPr>
          <a:xfrm>
            <a:off x="6464808" y="3694176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G1D-101 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Revoked or unknown identity</a:t>
            </a:r>
            <a:endParaRPr lang="en-US" sz="1100" dirty="0"/>
          </a:p>
        </p:txBody>
      </p:sp>
      <p:sp>
        <p:nvSpPr>
          <p:cNvPr id="31" name="Rule G1D-102"/>
          <p:cNvSpPr/>
          <p:nvPr/>
        </p:nvSpPr>
        <p:spPr>
          <a:xfrm>
            <a:off x="8161020" y="3639312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2" name="Rule text G1D-102"/>
          <p:cNvSpPr txBox="1"/>
          <p:nvPr/>
        </p:nvSpPr>
        <p:spPr>
          <a:xfrm>
            <a:off x="8270748" y="3694176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G1D-102 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Values past the limits</a:t>
            </a:r>
            <a:endParaRPr lang="en-US" sz="1100" dirty="0"/>
          </a:p>
        </p:txBody>
      </p:sp>
      <p:sp>
        <p:nvSpPr>
          <p:cNvPr id="33" name="Rule G1D-103"/>
          <p:cNvSpPr/>
          <p:nvPr/>
        </p:nvSpPr>
        <p:spPr>
          <a:xfrm>
            <a:off x="9966960" y="3639312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4" name="Rule text G1D-103"/>
          <p:cNvSpPr txBox="1"/>
          <p:nvPr/>
        </p:nvSpPr>
        <p:spPr>
          <a:xfrm>
            <a:off x="10076688" y="3694176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G1D-103 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Wrong robot (out of scope)</a:t>
            </a:r>
            <a:endParaRPr lang="en-US" sz="1100" dirty="0"/>
          </a:p>
        </p:txBody>
      </p:sp>
      <p:sp>
        <p:nvSpPr>
          <p:cNvPr id="35" name="Rule G1D-104"/>
          <p:cNvSpPr/>
          <p:nvPr/>
        </p:nvSpPr>
        <p:spPr>
          <a:xfrm>
            <a:off x="6355080" y="4389120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6" name="Rule text G1D-104"/>
          <p:cNvSpPr txBox="1"/>
          <p:nvPr/>
        </p:nvSpPr>
        <p:spPr>
          <a:xfrm>
            <a:off x="6464808" y="4443984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G1D-104 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Privilege escalation</a:t>
            </a:r>
            <a:endParaRPr lang="en-US" sz="1100" dirty="0"/>
          </a:p>
        </p:txBody>
      </p:sp>
      <p:sp>
        <p:nvSpPr>
          <p:cNvPr id="37" name="Rule G1D-105"/>
          <p:cNvSpPr/>
          <p:nvPr/>
        </p:nvSpPr>
        <p:spPr>
          <a:xfrm>
            <a:off x="8161020" y="4389120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8" name="Rule text G1D-105"/>
          <p:cNvSpPr txBox="1"/>
          <p:nvPr/>
        </p:nvSpPr>
        <p:spPr>
          <a:xfrm>
            <a:off x="8270748" y="4443984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G1D-105 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Replayed request</a:t>
            </a:r>
            <a:endParaRPr lang="en-US" sz="1100" dirty="0"/>
          </a:p>
        </p:txBody>
      </p:sp>
      <p:sp>
        <p:nvSpPr>
          <p:cNvPr id="39" name="Rule G1D-106"/>
          <p:cNvSpPr/>
          <p:nvPr/>
        </p:nvSpPr>
        <p:spPr>
          <a:xfrm>
            <a:off x="9966960" y="4389120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0" name="Rule text G1D-106"/>
          <p:cNvSpPr txBox="1"/>
          <p:nvPr/>
        </p:nvSpPr>
        <p:spPr>
          <a:xfrm>
            <a:off x="10076688" y="4443984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G1D-106 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Spoofed identity</a:t>
            </a:r>
            <a:endParaRPr lang="en-US" sz="1100" dirty="0"/>
          </a:p>
        </p:txBody>
      </p:sp>
      <p:sp>
        <p:nvSpPr>
          <p:cNvPr id="41" name="Rule G1D-107"/>
          <p:cNvSpPr/>
          <p:nvPr/>
        </p:nvSpPr>
        <p:spPr>
          <a:xfrm>
            <a:off x="6355080" y="5138928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2" name="Rule text G1D-107"/>
          <p:cNvSpPr txBox="1"/>
          <p:nvPr/>
        </p:nvSpPr>
        <p:spPr>
          <a:xfrm>
            <a:off x="6464808" y="519379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G1D-107 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Move while disarmed</a:t>
            </a:r>
            <a:endParaRPr lang="en-US" sz="1100" dirty="0"/>
          </a:p>
        </p:txBody>
      </p:sp>
      <p:sp>
        <p:nvSpPr>
          <p:cNvPr id="43" name="Rule G1D-108"/>
          <p:cNvSpPr/>
          <p:nvPr/>
        </p:nvSpPr>
        <p:spPr>
          <a:xfrm>
            <a:off x="8161020" y="5138928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4" name="Rule text G1D-108"/>
          <p:cNvSpPr txBox="1"/>
          <p:nvPr/>
        </p:nvSpPr>
        <p:spPr>
          <a:xfrm>
            <a:off x="8270748" y="519379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G1D-108  DENY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Request not via the PEP</a:t>
            </a:r>
            <a:endParaRPr lang="en-US" sz="1100" dirty="0"/>
          </a:p>
        </p:txBody>
      </p:sp>
      <p:sp>
        <p:nvSpPr>
          <p:cNvPr id="45" name="Rule G1D-200"/>
          <p:cNvSpPr/>
          <p:nvPr/>
        </p:nvSpPr>
        <p:spPr>
          <a:xfrm>
            <a:off x="9966960" y="5138928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6" name="Rule text G1D-200"/>
          <p:cNvSpPr txBox="1"/>
          <p:nvPr/>
        </p:nvSpPr>
        <p:spPr>
          <a:xfrm>
            <a:off x="10076688" y="519379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G1D-200  ALLOW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Valid chunk: ALLOW</a:t>
            </a:r>
            <a:endParaRPr lang="en-US" sz="1100" dirty="0"/>
          </a:p>
        </p:txBody>
      </p:sp>
      <p:sp>
        <p:nvSpPr>
          <p:cNvPr id="47" name="Guarantees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Fail-closed: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no PEP answer, no motion   ·   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Identity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set by the postino, not the model   ·   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Every decision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logged   ·  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Not covered: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direct DDS access (isolate that network)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 Twin">
  <a:themeElements>
    <a:clrScheme name="Cyber Twin">
      <a:dk1>
        <a:srgbClr val="0D1620"/>
      </a:dk1>
      <a:lt1>
        <a:srgbClr val="FFFFFF"/>
      </a:lt1>
      <a:dk2>
        <a:srgbClr val="1B2A38"/>
      </a:dk2>
      <a:lt2>
        <a:srgbClr val="A9B8C6"/>
      </a:lt2>
      <a:accent1>
        <a:srgbClr val="C0ED79"/>
      </a:accent1>
      <a:accent2>
        <a:srgbClr val="FF717A"/>
      </a:accent2>
      <a:accent3>
        <a:srgbClr val="7FB2E5"/>
      </a:accent3>
      <a:accent4>
        <a:srgbClr val="F2C14E"/>
      </a:accent4>
      <a:accent5>
        <a:srgbClr val="4FB0A6"/>
      </a:accent5>
      <a:accent6>
        <a:srgbClr val="A78BFA"/>
      </a:accent6>
      <a:hlink>
        <a:srgbClr val="7FB2E5"/>
      </a:hlink>
      <a:folHlink>
        <a:srgbClr val="A78BFA"/>
      </a:folHlink>
    </a:clrScheme>
    <a:fontScheme name="Cyber Tw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PEP in the packing loop</dc:title>
  <dc:subject>PptxGenJS Presentation</dc:subject>
  <dc:creator>PptxGenJS</dc:creator>
  <cp:lastModifiedBy>PptxGenJS</cp:lastModifiedBy>
  <cp:revision>1</cp:revision>
  <dcterms:created xsi:type="dcterms:W3CDTF">2026-10-09T09:21:26Z</dcterms:created>
  <dcterms:modified xsi:type="dcterms:W3CDTF">2026-10-09T09:21:26Z</dcterms:modified>
</cp:coreProperties>
</file>